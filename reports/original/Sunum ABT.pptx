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b4a897a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b4a897a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Slide Title: Visual State-Space (VSS) Block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“Let’s take a closer look at the VSS block, the core building unit of our VSSM-UNet architecture. At a high level, a VSS block replaces the usual convolution or attention layers with efficient state‐space operations to capture both local and global context. Here’s how it works step by step: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Layer Normalization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First, we normalize the input feature map to stabilize its distribution. This helps the block learn more reliably.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Multi-Head Split &amp; SS2D Modules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We split the normalized features into several “heads.” Each head is processed independently by a Selective State-Space 2D (SS2D) module. You can think of each SS2D as learning its own spatial pattern—like multiple attention heads in a Transformer, but with linear time complexity.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Concatenation &amp; Fusion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Next, we concatenate all head outputs along the channel axis to form a rich contextual feature map. We apply another layer normalization, followed by a small linear projection that fuses information across heads.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Gated Residual Module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To control how much of the new, attention‐enhanced features to add back, we use a learnable gate parameter, γ. This gated residual connection adds the transformed features back to the original input, reinforcing important details while preserving stability.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result is a block that can reason over multiple spatial scales and directions, yet runs in linear time with respect to image size. This design gives VSSM-UNet both the precision of convolutional layers and the global context power of self-attention—without the heavy computational cost.”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b4a897aa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b4a897aa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Let’s now move on to our loss function improvements. In the original setup, </a:t>
            </a:r>
            <a:r>
              <a:rPr b="1" lang="en">
                <a:solidFill>
                  <a:schemeClr val="dk1"/>
                </a:solidFill>
              </a:rPr>
              <a:t>AdvancedLoss</a:t>
            </a:r>
            <a:r>
              <a:rPr lang="en">
                <a:solidFill>
                  <a:schemeClr val="dk1"/>
                </a:solidFill>
              </a:rPr>
              <a:t> is designed to make the segmentation model more robust and accurate under challenging conditions.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Why Move Away from BceDiceLoss?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Originally, </a:t>
            </a:r>
            <a:r>
              <a:rPr b="1" lang="en">
                <a:solidFill>
                  <a:schemeClr val="dk1"/>
                </a:solidFill>
              </a:rPr>
              <a:t>BceDiceLoss is used</a:t>
            </a:r>
            <a:r>
              <a:rPr lang="en">
                <a:solidFill>
                  <a:schemeClr val="dk1"/>
                </a:solidFill>
              </a:rPr>
              <a:t>, which balances pixel-wise accuracy with mask overlap. While effective, it can fall short when classes are highly imbalanced or lesion boundaries are complex.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Is AdvancedLoss?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AdvancedLoss</a:t>
            </a:r>
            <a:r>
              <a:rPr lang="en">
                <a:solidFill>
                  <a:schemeClr val="dk1"/>
                </a:solidFill>
              </a:rPr>
              <a:t> combines four complementary components: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BCEWithLogitsLoss</a:t>
            </a:r>
            <a:r>
              <a:rPr lang="en">
                <a:solidFill>
                  <a:schemeClr val="dk1"/>
                </a:solidFill>
              </a:rPr>
              <a:t> – Provides numerically stable, pixel-level classification accuracy.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Tversky Loss</a:t>
            </a:r>
            <a:r>
              <a:rPr lang="en">
                <a:solidFill>
                  <a:schemeClr val="dk1"/>
                </a:solidFill>
              </a:rPr>
              <a:t> – Explicitly balances penalties for false positives and false negatives to handle class imbalance.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Focal Tversky Loss</a:t>
            </a:r>
            <a:r>
              <a:rPr lang="en">
                <a:solidFill>
                  <a:schemeClr val="dk1"/>
                </a:solidFill>
              </a:rPr>
              <a:t> – Applies an exponent (γ) to focus learning on the hardest, most ambiguous pixels.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Log-Cosh Dice Loss</a:t>
            </a:r>
            <a:r>
              <a:rPr lang="en">
                <a:solidFill>
                  <a:schemeClr val="dk1"/>
                </a:solidFill>
              </a:rPr>
              <a:t> – Smooths the Dice loss surface for steadier training and reduced sensitivity to outliers.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How Does It Help?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By weighting and summing these terms—each targeting a different type of error—our model learns richer, more generalizable features: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Class imbalance?</a:t>
            </a:r>
            <a:r>
              <a:rPr lang="en">
                <a:solidFill>
                  <a:schemeClr val="dk1"/>
                </a:solidFill>
              </a:rPr>
              <a:t> Tversky Loss adapts the penalty.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Hard boundaries?</a:t>
            </a:r>
            <a:r>
              <a:rPr lang="en">
                <a:solidFill>
                  <a:schemeClr val="dk1"/>
                </a:solidFill>
              </a:rPr>
              <a:t> Focal Tversky focuses on difficult pixels.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Training stability?</a:t>
            </a:r>
            <a:r>
              <a:rPr lang="en">
                <a:solidFill>
                  <a:schemeClr val="dk1"/>
                </a:solidFill>
              </a:rPr>
              <a:t> Log-Cosh Dice dampens sudden loss spikes.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Bottom Line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AdvancedLoss gives our model the flexibility to optimize for local accuracy, global overlap, and challenging cases simultaneously—delivering stronger, more reliable segmentation performance, even on small or irregular lesions.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84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0325" y="1315821"/>
            <a:ext cx="5121975" cy="24123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257350" y="1140825"/>
            <a:ext cx="3389100" cy="28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Layer Normalization</a:t>
            </a:r>
            <a:endParaRPr b="1"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" sz="900">
                <a:solidFill>
                  <a:schemeClr val="dk1"/>
                </a:solidFill>
              </a:rPr>
              <a:t>Normalize input features → Stabilizes distribution, improves learning.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Multi-Head Split &amp; SS2D Modules</a:t>
            </a:r>
            <a:endParaRPr b="1"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" sz="900">
                <a:solidFill>
                  <a:schemeClr val="dk1"/>
                </a:solidFill>
              </a:rPr>
              <a:t>Split into heads → Each head uses SS2D to learn unique spatial patterns (like attention heads, but linear-time).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Concatenation &amp; Fusion</a:t>
            </a:r>
            <a:endParaRPr b="1"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" sz="900">
                <a:solidFill>
                  <a:schemeClr val="dk1"/>
                </a:solidFill>
              </a:rPr>
              <a:t>Concatenate head outputs → Apply layer norm + linear projection to merge contextual info.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Gated Residual Module</a:t>
            </a:r>
            <a:endParaRPr b="1"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" sz="900">
                <a:solidFill>
                  <a:schemeClr val="dk1"/>
                </a:solidFill>
              </a:rPr>
              <a:t>Use learnable gate (γ) → Adds enhanced features back to input, preserving stability and details.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Overall Block: </a:t>
            </a:r>
            <a:r>
              <a:rPr lang="en" sz="900">
                <a:solidFill>
                  <a:schemeClr val="dk1"/>
                </a:solidFill>
              </a:rPr>
              <a:t>Capture local + global context efficiently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 Function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 the initial version of the model, the training loss function used was </a:t>
            </a:r>
            <a:r>
              <a:rPr b="1" lang="en" sz="1100">
                <a:solidFill>
                  <a:schemeClr val="dk1"/>
                </a:solidFill>
              </a:rPr>
              <a:t>BceDiceLoss</a:t>
            </a:r>
            <a:r>
              <a:rPr lang="en" sz="1100">
                <a:solidFill>
                  <a:schemeClr val="dk1"/>
                </a:solidFill>
              </a:rPr>
              <a:t>, which is a weighted combination of Binary Cross-Entropy (BCE) Loss and Dice Loss.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 the modified version, we replaced this with a custom designed </a:t>
            </a:r>
            <a:r>
              <a:rPr b="1" lang="en" sz="1100">
                <a:solidFill>
                  <a:schemeClr val="dk1"/>
                </a:solidFill>
              </a:rPr>
              <a:t>AdvancedLoss </a:t>
            </a:r>
            <a:r>
              <a:rPr lang="en" sz="1100">
                <a:solidFill>
                  <a:schemeClr val="dk1"/>
                </a:solidFill>
              </a:rPr>
              <a:t>function, which integrates four distinct loss components: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BCEWithLogitLoss:</a:t>
            </a:r>
            <a:r>
              <a:rPr lang="en" sz="1100">
                <a:solidFill>
                  <a:schemeClr val="dk1"/>
                </a:solidFill>
              </a:rPr>
              <a:t> Pixel vised classification accuracy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Tversky Loss: </a:t>
            </a:r>
            <a:r>
              <a:rPr lang="en" sz="1100">
                <a:solidFill>
                  <a:schemeClr val="dk1"/>
                </a:solidFill>
              </a:rPr>
              <a:t>Handles class imbalance and controls error types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Focal Tversky Loss</a:t>
            </a:r>
            <a:r>
              <a:rPr lang="en" sz="1100">
                <a:solidFill>
                  <a:schemeClr val="dk1"/>
                </a:solidFill>
              </a:rPr>
              <a:t>:  Puts more weight on hard examples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Log-Cosh Dice Loss: </a:t>
            </a:r>
            <a:r>
              <a:rPr lang="en" sz="1100">
                <a:solidFill>
                  <a:schemeClr val="dk1"/>
                </a:solidFill>
              </a:rPr>
              <a:t>To make the learning process more stable and less sensitive to outliers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425" y="2955450"/>
            <a:ext cx="7759000" cy="4837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